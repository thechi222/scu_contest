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c470f0a3d141f5" /><Relationship Type="http://schemas.openxmlformats.org/officeDocument/2006/relationships/extended-properties" Target="/docProps/app.xml" Id="R68f70afb6f6d4aa8" /><Relationship Type="http://schemas.openxmlformats.org/officeDocument/2006/relationships/officeDocument" Target="/ppt/presentation.xml" Id="R9fdbe42ebf3841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29cd2fc8c043e3"/>
  </p:sldMasterIdLst>
  <p:notesMasterIdLst>
    <p:notesMasterId xmlns:r="http://schemas.openxmlformats.org/officeDocument/2006/relationships" r:id="R12bd284e2f9d4ed0"/>
  </p:notesMasterIdLst>
  <p:sldIdLst>
    <p:sldId xmlns:r="http://schemas.openxmlformats.org/officeDocument/2006/relationships" id="256" r:id="R6e0255d2b6414faa"/>
    <p:sldId xmlns:r="http://schemas.openxmlformats.org/officeDocument/2006/relationships" id="257" r:id="Reabf43ea4b7a4ac1"/>
    <p:sldId xmlns:r="http://schemas.openxmlformats.org/officeDocument/2006/relationships" id="258" r:id="R8d862dc8f8d24030"/>
    <p:sldId xmlns:r="http://schemas.openxmlformats.org/officeDocument/2006/relationships" id="259" r:id="Rdb384fffa2204a8a"/>
    <p:sldId xmlns:r="http://schemas.openxmlformats.org/officeDocument/2006/relationships" id="260" r:id="R0e17e28957454144"/>
    <p:sldId xmlns:r="http://schemas.openxmlformats.org/officeDocument/2006/relationships" id="261" r:id="Red46e91e0f154db7"/>
    <p:sldId xmlns:r="http://schemas.openxmlformats.org/officeDocument/2006/relationships" id="262" r:id="R513d6f05e0c04360"/>
    <p:sldId xmlns:r="http://schemas.openxmlformats.org/officeDocument/2006/relationships" id="263" r:id="R29b5325f54ce4e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d0ebb6864a4098" /><Relationship Type="http://schemas.openxmlformats.org/officeDocument/2006/relationships/slideMaster" Target="/ppt/slideMasters/slideMaster1.xml" Id="Rcf29cd2fc8c043e3" /><Relationship Type="http://schemas.openxmlformats.org/officeDocument/2006/relationships/notesMaster" Target="/ppt/notesMasters/notesMaster1.xml" Id="R12bd284e2f9d4ed0" /><Relationship Type="http://schemas.openxmlformats.org/officeDocument/2006/relationships/presProps" Target="/ppt/presProps.xml" Id="R0d7e3d0431294890" /><Relationship Type="http://schemas.openxmlformats.org/officeDocument/2006/relationships/tableStyles" Target="/ppt/tableStyles.xml" Id="R82ce75efecf24bd4" /><Relationship Type="http://schemas.openxmlformats.org/officeDocument/2006/relationships/slide" Target="/ppt/slides/slide1.xml" Id="R6e0255d2b6414faa" /><Relationship Type="http://schemas.openxmlformats.org/officeDocument/2006/relationships/slide" Target="/ppt/slides/slide2.xml" Id="Reabf43ea4b7a4ac1" /><Relationship Type="http://schemas.openxmlformats.org/officeDocument/2006/relationships/slide" Target="/ppt/slides/slide3.xml" Id="R8d862dc8f8d24030" /><Relationship Type="http://schemas.openxmlformats.org/officeDocument/2006/relationships/slide" Target="/ppt/slides/slide4.xml" Id="Rdb384fffa2204a8a" /><Relationship Type="http://schemas.openxmlformats.org/officeDocument/2006/relationships/slide" Target="/ppt/slides/slide5.xml" Id="R0e17e28957454144" /><Relationship Type="http://schemas.openxmlformats.org/officeDocument/2006/relationships/slide" Target="/ppt/slides/slide6.xml" Id="Red46e91e0f154db7" /><Relationship Type="http://schemas.openxmlformats.org/officeDocument/2006/relationships/slide" Target="/ppt/slides/slide7.xml" Id="R513d6f05e0c04360" /><Relationship Type="http://schemas.openxmlformats.org/officeDocument/2006/relationships/slide" Target="/ppt/slides/slide8.xml" Id="R29b5325f54ce4e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c3d9303b284a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94388dc25240e1" /><Relationship Type="http://schemas.openxmlformats.org/officeDocument/2006/relationships/notesMaster" Target="/ppt/notesMasters/notesMaster1.xml" Id="R2954166f767a45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6978bdecc34485" /><Relationship Type="http://schemas.openxmlformats.org/officeDocument/2006/relationships/notesMaster" Target="/ppt/notesMasters/notesMaster1.xml" Id="Rfa10d1e386d84f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f2b976f5fc48a8" /><Relationship Type="http://schemas.openxmlformats.org/officeDocument/2006/relationships/notesMaster" Target="/ppt/notesMasters/notesMaster1.xml" Id="R3544cfe9776f46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1ac57aaaf84e93" /><Relationship Type="http://schemas.openxmlformats.org/officeDocument/2006/relationships/notesMaster" Target="/ppt/notesMasters/notesMaster1.xml" Id="Rfb464515f7074e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0914b969d145cb" /><Relationship Type="http://schemas.openxmlformats.org/officeDocument/2006/relationships/notesMaster" Target="/ppt/notesMasters/notesMaster1.xml" Id="R0bc8e8d820264e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af0758f0074fa9" /><Relationship Type="http://schemas.openxmlformats.org/officeDocument/2006/relationships/notesMaster" Target="/ppt/notesMasters/notesMaster1.xml" Id="Re54eb89bed5f48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478740108a483f" /><Relationship Type="http://schemas.openxmlformats.org/officeDocument/2006/relationships/notesMaster" Target="/ppt/notesMasters/notesMaster1.xml" Id="R67ab212b77384a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8b22899bb64c2b" /><Relationship Type="http://schemas.openxmlformats.org/officeDocument/2006/relationships/notesMaster" Target="/ppt/notesMasters/notesMaster1.xml" Id="R4ce803f7104146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0:00–0:15 開場。介紹專題名称與團隊。此版本為可編輯草稿，未取得的試用或三機數據不得在口頭報告中補成已完成。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0:15–0:50 交代觀察與訪談。請補入團隊實際觀察期間、設備數與匿名訪談證據。尚未量測之前，只說存在這個機會，不宣稱閒置率或需求人數。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0:50–1:30 展示三台已配對電腦與分享 ON。首次模型測試必須各機獨立通過。來源：https://github.com/SYSTRAN/faster-whisper 與 https://github.com/xinntao/Real-ESRGAN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1:30–5:30 保留四分鐘實機展示。順序是短音訊、圖片批次、OFF、恢復後的成果及紀錄。請用事前排練確認能完成的素材。若播放備援錄影，必須清楚標示錄影與錄製環境。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5:30–6:00 說明故障恢復。這不是搬移 GPU 記憶體，檔案會重新執行。Agent 失聯即停止自己的工作，中央保存狀態並等待新節點。單機資料庫必須由一個後端程序使用。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6:00–6:20 自動測試來自 docs/test-results.xml。協定測試節點不代表三台實機。單台 RTX 3050 的 CUDA、收回時間、結果品質另看 docs/gpu-results-*.json；在結果存在前不得宣稱通過。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6:20–6:40 這一頁在正式比賽前必須換成真實測量。不得將單台結果乘除成三台數字。每人預設同時兩件工作；使用兩帳號或記錄專用測試帳號的調整上限。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6:40–8:00 说明校方設備管理同意、公開或經同意素材、公平額度與維運安排。個人機主可能接觸任務資料；目前是受信任校內節點，不宣稱機密運算。收尾後保留兩分鐘回覆。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85f8dace34b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25d86a26934f78" /><Relationship Type="http://schemas.openxmlformats.org/officeDocument/2006/relationships/slideLayout" Target="/ppt/slideLayouts/slideLayout1.xml" Id="Rb3a4cf36ab1248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a4cf36ab1248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a2c5336cf4242" /><Relationship Type="http://schemas.openxmlformats.org/officeDocument/2006/relationships/notesSlide" Target="/ppt/notesSlides/notesSlide1.xml" Id="Re89acf3e0cd449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b8f1cd7bc4f0f" /><Relationship Type="http://schemas.openxmlformats.org/officeDocument/2006/relationships/notesSlide" Target="/ppt/notesSlides/notesSlide2.xml" Id="R5be56586c3c142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8b4163a134303" /><Relationship Type="http://schemas.openxmlformats.org/officeDocument/2006/relationships/notesSlide" Target="/ppt/notesSlides/notesSlide3.xml" Id="Rcbbc41e07acc46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911f3b2ec411b" /><Relationship Type="http://schemas.openxmlformats.org/officeDocument/2006/relationships/notesSlide" Target="/ppt/notesSlides/notesSlide4.xml" Id="R37e2d4600bce42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ad133b0674a38" /><Relationship Type="http://schemas.openxmlformats.org/officeDocument/2006/relationships/notesSlide" Target="/ppt/notesSlides/notesSlide5.xml" Id="R8ff5b30fc56c43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e4167e9ce43b5" /><Relationship Type="http://schemas.openxmlformats.org/officeDocument/2006/relationships/notesSlide" Target="/ppt/notesSlides/notesSlide6.xml" Id="Rd782bf483f174e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1a0c0f7274247" /><Relationship Type="http://schemas.openxmlformats.org/officeDocument/2006/relationships/notesSlide" Target="/ppt/notesSlides/notesSlide7.xml" Id="Rfa85ffb6faae49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15f9b1f7b4eb8" /><Relationship Type="http://schemas.openxmlformats.org/officeDocument/2006/relationships/notesSlide" Target="/ppt/notesSlides/notesSlide8.xml" Id="R0ae78bdce51941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60D37-FF18-405D-B2EF-DBC40B61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C5F3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300" b="1">
                <a:solidFill>
                  <a:srgbClr val="C5F39A"/>
                </a:solidFill>
                <a:latin typeface="Microsoft JhengHei"/>
                <a:ea typeface="Microsoft JhengHei"/>
                <a:cs typeface="Microsoft JhengHei"/>
              </a:rPr>
              <a:t>算力接力站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98156-EA83-49AB-AC2B-6BB761B0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校內 GPU 任務共享平台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BB166-72F0-47E4-A9C7-6476F8E9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BC8B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ABC8BA"/>
                </a:solidFill>
                <a:latin typeface="Microsoft JhengHei"/>
                <a:ea typeface="Microsoft JhengHei"/>
                <a:cs typeface="Microsoft JhengHei"/>
              </a:rPr>
              <a:t>機主隨時收回，同學持續完成工作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B1D2B-1993-4AC2-82FE-285503CD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340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BC8B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BC8BA"/>
                </a:solidFill>
                <a:latin typeface="Microsoft JhengHei"/>
                <a:ea typeface="Microsoft JhengHei"/>
                <a:cs typeface="Microsoft JhengHei"/>
              </a:rPr>
              <a:t>決賽簡報草稿 · 依實機驗收結果更新</a:t>
            </a:r>
          </a:p>
        </p:txBody>
      </p:sp>
    </p:spTree>
    <p:extLst>
      <p:ext uri="{BB962C8B-B14F-4D97-AF65-F5344CB8AC3E}">
        <p14:creationId xmlns:p14="http://schemas.microsoft.com/office/powerpoint/2010/main" val="9424404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1112D-FF79-4D0E-BC08-9864E910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校園裡的閒置 GPU 與運算需求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32AAF-D7AE-4B09-BE09-B16DAADF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rPr>
              <a:t>題目起點來自團隊對教室設備的觀察；需求規模仍需訪談與量測。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D8CC9-4BC4-4512-A5D4-6BACD9B8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71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E7155"/>
                </a:solidFill>
                <a:latin typeface="Microsoft JhengHei"/>
                <a:ea typeface="Microsoft JhengHei"/>
                <a:cs typeface="Microsoft JhengHei"/>
              </a:rPr>
              <a:t>需要算力的同學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D2ADD-A3C7-4FE5-81DF-AF16A394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485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訪談、課堂錄音需要逐字稿</a:t>
            </a:r>
          </a:p>
          <a:p xmlns:a="http://schemas.openxmlformats.org/drawingml/2006/main">
            <a:pPr>
              <a:def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活動照片需要清晰的放大版本</a:t>
            </a:r>
          </a:p>
          <a:p xmlns:a="http://schemas.openxmlformats.org/drawingml/2006/main">
            <a:pPr>
              <a:def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環境安裝成為使用門檻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0CBB4-F981-47E7-8B14-00365034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765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71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E7155"/>
                </a:solidFill>
                <a:latin typeface="Microsoft JhengHei"/>
                <a:ea typeface="Microsoft JhengHei"/>
                <a:cs typeface="Microsoft JhengHei"/>
              </a:rPr>
              <a:t>暫時閒置的電腦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E1C4F-7FED-42AD-9E79-79F3C3E1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337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教室與獨顯筆電可分享時段</a:t>
            </a:r>
          </a:p>
          <a:p xmlns:a="http://schemas.openxmlformats.org/drawingml/2006/main">
            <a:pPr>
              <a:def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機主需要保留使用優先權</a:t>
            </a:r>
          </a:p>
          <a:p xmlns:a="http://schemas.openxmlformats.org/drawingml/2006/main">
            <a:pPr>
              <a:def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學校需要看見用量與貢獻</a:t>
            </a:r>
          </a:p>
        </p:txBody>
      </p:sp>
    </p:spTree>
    <p:extLst>
      <p:ext uri="{BB962C8B-B14F-4D97-AF65-F5344CB8AC3E}">
        <p14:creationId xmlns:p14="http://schemas.microsoft.com/office/powerpoint/2010/main" val="17897788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0D21A-1FA6-4CDD-A127-E44F70F1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兩種直接可用的 AI 任務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8688F-67AF-4666-9046-EA24F6F6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rPr>
              <a:t>提交檔案後，平台處理環境、排隊與結果回傳。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23900" y="2524125"/>
          <a:ext xmlns:a="http://schemas.openxmlformats.org/drawingml/2006/main" cx="10668000" cy="2114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429500"/>
              </a:tblGrid>
              <a:tr h="7048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服務</a:t>
                      </a:r>
                    </a:p>
                  </a:txBody>
                  <a:tcPr marL="91440" marR="91440" marT="45720" marB="45720">
                    <a:solidFill>
                      <a:srgbClr val="17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使用者取得的成果</a:t>
                      </a:r>
                    </a:p>
                  </a:txBody>
                  <a:tcPr marL="91440" marR="91440" marT="45720" marB="45720">
                    <a:solidFill>
                      <a:srgbClr val="173D35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語音轉文字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逐字稿 TXT 與字幕 SRT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圖片 AI 放大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倍圖片與拖曳前後比較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9A2AA-A3FD-4AC4-AD2A-DDE4358C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rPr>
              <a:t>Whisper small / int8_float16       Real-ESRGAN x2plus / 分塊 128</a:t>
            </a:r>
          </a:p>
        </p:txBody>
      </p:sp>
    </p:spTree>
    <p:extLst>
      <p:ext uri="{BB962C8B-B14F-4D97-AF65-F5344CB8AC3E}">
        <p14:creationId xmlns:p14="http://schemas.microsoft.com/office/powerpoint/2010/main" val="8935039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D06FD-7536-4178-A399-F0C24C6C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現場操作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906B2-EDED-4C9E-9E53-E4D1558E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rPr>
              <a:t>切換到平台，讓評審看見真實狀態與可下載成果。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C5236-7A0A-4CC7-BCC9-8398A6B3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281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28160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B6BEA-25EA-490F-A1BE-5BEA4DB8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3336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提交短音訊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A7B30-5E38-49ED-B8BE-1C4250A6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812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預覽逐字稿，下載字幕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1DC69-8145-4D30-AD61-AB44E4EE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281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28160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DE02A-6D18-4F46-A2B7-2BC085C6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289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提交圖片批次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B87BC-8849-4876-9126-E1C4FE53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7660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至少兩個帳號，讓三台 GPU 同時接單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1B17B-D087-4C64-9D76-2F54AABA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281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2816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DF1B1-D4F8-43FE-88DA-0BC08B02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243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機主關閉分享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7CB87-7C17-4761-A317-63B72CAC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719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確認容器停止與 GPU 記憶體釋放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CF17F-E010-4AF4-A727-AB3754D4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96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281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28160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09B43-5C31-45DE-B957-3D0097A4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196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查看接力結果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8FA29-BABE-4B71-A1CD-0544C2F5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6730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未完成檔案重新派工，已完成檔案保留</a:t>
            </a:r>
          </a:p>
        </p:txBody>
      </p:sp>
    </p:spTree>
    <p:extLst>
      <p:ext uri="{BB962C8B-B14F-4D97-AF65-F5344CB8AC3E}">
        <p14:creationId xmlns:p14="http://schemas.microsoft.com/office/powerpoint/2010/main" val="2301418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69B20-74E4-4B6C-8F06-41AF2EB6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收回設備後的工作恢復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18040-E175-4C58-B53D-151DD4C6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rPr>
              <a:t>平台重新執行尚未完成的檔案，每次嘗試都有獨立識別。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23900" y="2238375"/>
          <a:ext xmlns:a="http://schemas.openxmlformats.org/drawingml/2006/main" cx="10668000" cy="2819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239000"/>
              </a:tblGrid>
              <a:tr h="7048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規則</a:t>
                      </a:r>
                    </a:p>
                  </a:txBody>
                  <a:tcPr marL="91440" marR="91440" marT="45720" marB="45720">
                    <a:solidFill>
                      <a:srgbClr val="17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系統行為</a:t>
                      </a:r>
                    </a:p>
                  </a:txBody>
                  <a:tcPr marL="91440" marR="91440" marT="45720" marB="45720">
                    <a:solidFill>
                      <a:srgbClr val="173D35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 5 秒回報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Agent 續約並回傳硬體狀態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 秒未續約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舊分配失效，未完成工作重新排隊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最多 2 次自動重試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取消後不重試，過期識別不能提交成果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3359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0363C-7AC2-444B-8BCD-C266AA86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驗證進度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3AB9D-CF6B-4036-81BF-936244D3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rPr>
              <a:t>結果與限制一起呈現，保留可追溯的測試紀錄。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C793C-69D4-422C-9EAB-84077C15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95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00" b="1">
                <a:solidFill>
                  <a:srgbClr val="2180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00" b="1">
                <a:solidFill>
                  <a:srgbClr val="21805B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687D0-7BD0-4C10-AA2F-BB4B337F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項自動測試通過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3CE11-DAF9-4558-9A3C-F744E54E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5429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權限、公平派工、OFF 與取消</a:t>
            </a:r>
          </a:p>
          <a:p xmlns:a="http://schemas.openxmlformats.org/drawingml/2006/main">
            <a:pPr>
              <a:defRPr sz="217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過期結果拒收、重試上限</a:t>
            </a:r>
          </a:p>
          <a:p xmlns:a="http://schemas.openxmlformats.org/drawingml/2006/main">
            <a:pPr>
              <a:defRPr sz="217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服務重啟、批次下載、本機停止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234AE-4DDE-489D-AD7B-36C4FA4D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77C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77C71"/>
                </a:solidFill>
                <a:latin typeface="Microsoft JhengHei"/>
                <a:ea typeface="Microsoft JhengHei"/>
                <a:cs typeface="Microsoft JhengHei"/>
              </a:rPr>
              <a:t>GPU 與三機實測：以驗收表和實際成果檔更新本頁</a:t>
            </a:r>
          </a:p>
        </p:txBody>
      </p:sp>
    </p:spTree>
    <p:extLst>
      <p:ext uri="{BB962C8B-B14F-4D97-AF65-F5344CB8AC3E}">
        <p14:creationId xmlns:p14="http://schemas.microsoft.com/office/powerpoint/2010/main" val="19110222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87F36-905D-448F-A99F-35031251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單機與三機效能比較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AE583-3B1F-4E4A-A839-12B5A065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rPr>
              <a:t>相同輸入、模型與設定，計時包含上傳、排隊、處理與下載。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23900" y="2238375"/>
          <a:ext xmlns:a="http://schemas.openxmlformats.org/drawingml/2006/main" cx="10668000" cy="2819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2952750"/>
                <a:gridCol w="2952750"/>
              </a:tblGrid>
              <a:tr h="7048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驗收指標</a:t>
                      </a:r>
                    </a:p>
                  </a:txBody>
                  <a:tcPr marL="91440" marR="91440" marT="45720" marB="45720">
                    <a:solidFill>
                      <a:srgbClr val="17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單台 GPU</a:t>
                      </a:r>
                    </a:p>
                  </a:txBody>
                  <a:tcPr marL="91440" marR="91440" marT="45720" marB="45720">
                    <a:solidFill>
                      <a:srgbClr val="17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三台 GPU</a:t>
                      </a:r>
                    </a:p>
                  </a:txBody>
                  <a:tcPr marL="91440" marR="91440" marT="45720" marB="45720">
                    <a:solidFill>
                      <a:srgbClr val="173D35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批次完整耗時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待實測填入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待實測填入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完成率 / 重試數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待實測填入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待實測填入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OFF 釋放時間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待實測填入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待實測填入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320B7-32CA-4908-A4BF-0DFAA2C5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245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rPr>
              <a:t>實測工具：scripts/benchmark.py；保留 JSON、CSV 與結果檔</a:t>
            </a:r>
          </a:p>
        </p:txBody>
      </p:sp>
    </p:spTree>
    <p:extLst>
      <p:ext uri="{BB962C8B-B14F-4D97-AF65-F5344CB8AC3E}">
        <p14:creationId xmlns:p14="http://schemas.microsoft.com/office/powerpoint/2010/main" val="7246077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D061E-EFCC-4403-97FC-1E05DD73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校園試辦與下一步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BD759-8283-477F-92A6-A1C33A3A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rPr>
              <a:t>先讓加入、共享、使用、收回、恢復與管理全部可靠運作。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9D9DF-4DF7-43AC-8A17-74B812DF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180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1805B"/>
                </a:solidFill>
                <a:latin typeface="Microsoft JhengHei"/>
                <a:ea typeface="Microsoft JhengHei"/>
                <a:cs typeface="Microsoft JhengHei"/>
              </a:rPr>
              <a:t>試辦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0964B-01A4-44EA-9663-0760D8AA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三台受管理 GPU</a:t>
            </a:r>
          </a:p>
          <a:p xmlns:a="http://schemas.openxmlformats.org/drawingml/2006/main">
            <a:pPr>
              <a:def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至少五位同學試用</a:t>
            </a:r>
          </a:p>
          <a:p xmlns:a="http://schemas.openxmlformats.org/drawingml/2006/main">
            <a:pPr>
              <a:def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三次完整現場排練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64038-8800-4493-8077-58D554AD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180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1805B"/>
                </a:solidFill>
                <a:latin typeface="Microsoft JhengHei"/>
                <a:ea typeface="Microsoft JhengHei"/>
                <a:cs typeface="Microsoft JhengHei"/>
              </a:rPr>
              <a:t>後續擴充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A57BF-83E2-4F98-9380-A1832337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48050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課表共享時段</a:t>
            </a:r>
          </a:p>
          <a:p xmlns:a="http://schemas.openxmlformats.org/drawingml/2006/main">
            <a:pPr>
              <a:def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校內帳號整合</a:t>
            </a:r>
          </a:p>
          <a:p xmlns:a="http://schemas.openxmlformats.org/drawingml/2006/main">
            <a:pPr>
              <a:def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更多固定 AI 任務範本</a:t>
            </a:r>
          </a:p>
        </p:txBody>
      </p:sp>
    </p:spTree>
    <p:extLst>
      <p:ext uri="{BB962C8B-B14F-4D97-AF65-F5344CB8AC3E}">
        <p14:creationId xmlns:p14="http://schemas.microsoft.com/office/powerpoint/2010/main" val="13750274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2026-09-16T09:39:05.4940000Z</dcterms:created>
  <dcterms:modified xsi:type="dcterms:W3CDTF">2026-09-16T09:39:05.4940000Z</dcterms:modified>
</coreProperties>
</file>