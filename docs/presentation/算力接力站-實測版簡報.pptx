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04ebadd4d84db7" /><Relationship Type="http://schemas.openxmlformats.org/officeDocument/2006/relationships/extended-properties" Target="/docProps/app.xml" Id="Reb45a6ff1d384a85" /><Relationship Type="http://schemas.openxmlformats.org/officeDocument/2006/relationships/officeDocument" Target="/ppt/presentation.xml" Id="R112d6547ef8146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4514ab92cf4ab7"/>
  </p:sldMasterIdLst>
  <p:notesMasterIdLst>
    <p:notesMasterId xmlns:r="http://schemas.openxmlformats.org/officeDocument/2006/relationships" r:id="Rdfbafcbf842a436e"/>
  </p:notesMasterIdLst>
  <p:sldIdLst>
    <p:sldId xmlns:r="http://schemas.openxmlformats.org/officeDocument/2006/relationships" id="256" r:id="R31b8e5e102734ced"/>
    <p:sldId xmlns:r="http://schemas.openxmlformats.org/officeDocument/2006/relationships" id="257" r:id="R849e152410944a75"/>
    <p:sldId xmlns:r="http://schemas.openxmlformats.org/officeDocument/2006/relationships" id="258" r:id="R6a199abff6dc4d8a"/>
    <p:sldId xmlns:r="http://schemas.openxmlformats.org/officeDocument/2006/relationships" id="259" r:id="Ra98e328451b74b5a"/>
    <p:sldId xmlns:r="http://schemas.openxmlformats.org/officeDocument/2006/relationships" id="260" r:id="R031852fff716424f"/>
    <p:sldId xmlns:r="http://schemas.openxmlformats.org/officeDocument/2006/relationships" id="261" r:id="R52e84855150f4495"/>
    <p:sldId xmlns:r="http://schemas.openxmlformats.org/officeDocument/2006/relationships" id="262" r:id="R448b981b8b1f4e93"/>
    <p:sldId xmlns:r="http://schemas.openxmlformats.org/officeDocument/2006/relationships" id="263" r:id="R2a137e6a20b040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6a306e1bc7479c" /><Relationship Type="http://schemas.openxmlformats.org/officeDocument/2006/relationships/slideMaster" Target="/ppt/slideMasters/slideMaster1.xml" Id="R704514ab92cf4ab7" /><Relationship Type="http://schemas.openxmlformats.org/officeDocument/2006/relationships/notesMaster" Target="/ppt/notesMasters/notesMaster1.xml" Id="Rdfbafcbf842a436e" /><Relationship Type="http://schemas.openxmlformats.org/officeDocument/2006/relationships/presProps" Target="/ppt/presProps.xml" Id="R6e24d3d45f764004" /><Relationship Type="http://schemas.openxmlformats.org/officeDocument/2006/relationships/tableStyles" Target="/ppt/tableStyles.xml" Id="Race1b29e416a4622" /><Relationship Type="http://schemas.openxmlformats.org/officeDocument/2006/relationships/slide" Target="/ppt/slides/slide1.xml" Id="R31b8e5e102734ced" /><Relationship Type="http://schemas.openxmlformats.org/officeDocument/2006/relationships/slide" Target="/ppt/slides/slide2.xml" Id="R849e152410944a75" /><Relationship Type="http://schemas.openxmlformats.org/officeDocument/2006/relationships/slide" Target="/ppt/slides/slide3.xml" Id="R6a199abff6dc4d8a" /><Relationship Type="http://schemas.openxmlformats.org/officeDocument/2006/relationships/slide" Target="/ppt/slides/slide4.xml" Id="Ra98e328451b74b5a" /><Relationship Type="http://schemas.openxmlformats.org/officeDocument/2006/relationships/slide" Target="/ppt/slides/slide5.xml" Id="R031852fff716424f" /><Relationship Type="http://schemas.openxmlformats.org/officeDocument/2006/relationships/slide" Target="/ppt/slides/slide6.xml" Id="R52e84855150f4495" /><Relationship Type="http://schemas.openxmlformats.org/officeDocument/2006/relationships/slide" Target="/ppt/slides/slide7.xml" Id="R448b981b8b1f4e93" /><Relationship Type="http://schemas.openxmlformats.org/officeDocument/2006/relationships/slide" Target="/ppt/slides/slide8.xml" Id="R2a137e6a20b040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4f06716faa44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f4bbc871f341da" /><Relationship Type="http://schemas.openxmlformats.org/officeDocument/2006/relationships/notesMaster" Target="/ppt/notesMasters/notesMaster1.xml" Id="R7ff69fbb27bc41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d58f215d9546cd" /><Relationship Type="http://schemas.openxmlformats.org/officeDocument/2006/relationships/notesMaster" Target="/ppt/notesMasters/notesMaster1.xml" Id="Re6ae725f54634f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101b85189147c7" /><Relationship Type="http://schemas.openxmlformats.org/officeDocument/2006/relationships/notesMaster" Target="/ppt/notesMasters/notesMaster1.xml" Id="R8931280476564f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da479fc20549dc" /><Relationship Type="http://schemas.openxmlformats.org/officeDocument/2006/relationships/notesMaster" Target="/ppt/notesMasters/notesMaster1.xml" Id="R537733ed3be747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a67eafc7c04dd2" /><Relationship Type="http://schemas.openxmlformats.org/officeDocument/2006/relationships/notesMaster" Target="/ppt/notesMasters/notesMaster1.xml" Id="R5fdea584c2274c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c8b1040c7047b7" /><Relationship Type="http://schemas.openxmlformats.org/officeDocument/2006/relationships/notesMaster" Target="/ppt/notesMasters/notesMaster1.xml" Id="Redea8c0dd2e145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a4e99871684248" /><Relationship Type="http://schemas.openxmlformats.org/officeDocument/2006/relationships/notesMaster" Target="/ppt/notesMasters/notesMaster1.xml" Id="R5ec1a445b42246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612a22cbeb4b2e" /><Relationship Type="http://schemas.openxmlformats.org/officeDocument/2006/relationships/notesMaster" Target="/ppt/notesMasters/notesMaster1.xml" Id="R0a7fb3e2a3b744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0:00–0:15 開場。介紹專題名称與團隊。此版本為可編輯草稿，未取得的試用或三機數據不得在口頭報告中補成已完成。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0:15–0:50 交代觀察與訪談。請補入團隊實際觀察期間、設備數與匿名訪談證據。尚未量測之前，只說存在這個機會，不宣稱閒置率或需求人數。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0:50–1:30 展示三台已配對電腦與分享 ON。首次模型測試必須各機獨立通過。來源：https://github.com/SYSTRAN/faster-whisper 與 https://github.com/xinntao/Real-ESRGAN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1:30–5:30 保留四分鐘實機展示。順序是短音訊、圖片批次、OFF、恢復後的成果及紀錄。請用事前排練確認能完成的素材。若播放備援錄影，必須清楚標示錄影與錄製環境。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5:30–6:00 說明故障恢復。這不是搬移 GPU 記憶體，檔案會重新執行。Agent 失聯即停止自己的工作，中央保存狀態並等待新節點。單機資料庫必須由一個後端程序使用。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6:00–6:20 自動測試來自 docs/test-results.xml。協定測試節點不代表三台實機。單台 RTX 3050 的 CUDA、收回時間、結果品質另看 docs/gpu-results-*.json；在結果存在前不得宣稱通過。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6:20–6:40 這一頁在正式比賽前必須換成真實測量。不得將單台結果乘除成三台數字。每人預設同時兩件工作；使用兩帳號或記錄專用測試帳號的調整上限。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6:40–8:00 说明校方設備管理同意、公開或經同意素材、公平額度與維運安排。個人機主可能接觸任務資料；目前是受信任校內節點，不宣稱機密運算。收尾後保留兩分鐘回覆。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2e6948868848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30d6df16ee4eeb" /><Relationship Type="http://schemas.openxmlformats.org/officeDocument/2006/relationships/slideLayout" Target="/ppt/slideLayouts/slideLayout1.xml" Id="Rca34462b483247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34462b483247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0526412b54164" /><Relationship Type="http://schemas.openxmlformats.org/officeDocument/2006/relationships/notesSlide" Target="/ppt/notesSlides/notesSlide1.xml" Id="Rf59a9fe517014a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337c34d9445f3" /><Relationship Type="http://schemas.openxmlformats.org/officeDocument/2006/relationships/notesSlide" Target="/ppt/notesSlides/notesSlide2.xml" Id="R19aab566c77547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3870e357d4b5a" /><Relationship Type="http://schemas.openxmlformats.org/officeDocument/2006/relationships/notesSlide" Target="/ppt/notesSlides/notesSlide3.xml" Id="R4e6ac69dd7a845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b69367cf446e5" /><Relationship Type="http://schemas.openxmlformats.org/officeDocument/2006/relationships/notesSlide" Target="/ppt/notesSlides/notesSlide4.xml" Id="R6b0a46bfb64747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ede9f813e49ad" /><Relationship Type="http://schemas.openxmlformats.org/officeDocument/2006/relationships/notesSlide" Target="/ppt/notesSlides/notesSlide5.xml" Id="Rc92ead5967c648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bd84a088b4995" /><Relationship Type="http://schemas.openxmlformats.org/officeDocument/2006/relationships/notesSlide" Target="/ppt/notesSlides/notesSlide6.xml" Id="Ra5ed5e297aa24c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6f151382e438d" /><Relationship Type="http://schemas.openxmlformats.org/officeDocument/2006/relationships/notesSlide" Target="/ppt/notesSlides/notesSlide7.xml" Id="Rbb2e3433712447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10454c55042f6" /><Relationship Type="http://schemas.openxmlformats.org/officeDocument/2006/relationships/notesSlide" Target="/ppt/notesSlides/notesSlide8.xml" Id="Rcfecdd5105ea4a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C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441AD-C2B4-4E51-A558-4E351F83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C5F3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300" b="1">
                <a:solidFill>
                  <a:srgbClr val="C5F39A"/>
                </a:solidFill>
                <a:latin typeface="Microsoft JhengHei"/>
                <a:ea typeface="Microsoft JhengHei"/>
                <a:cs typeface="Microsoft JhengHei"/>
              </a:rPr>
              <a:t>算力接力站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07A67-781D-4106-B462-A095AE18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校內 GPU 任務共享平台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F0D1B-9106-47DA-AC77-F3AF8404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BC8B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ABC8BA"/>
                </a:solidFill>
                <a:latin typeface="Microsoft JhengHei"/>
                <a:ea typeface="Microsoft JhengHei"/>
                <a:cs typeface="Microsoft JhengHei"/>
              </a:rPr>
              <a:t>機主隨時收回，同學持續完成工作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3744C-482D-49B2-B0DB-9AE7FA89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340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BC8B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BC8BA"/>
                </a:solidFill>
                <a:latin typeface="Microsoft JhengHei"/>
                <a:ea typeface="Microsoft JhengHei"/>
                <a:cs typeface="Microsoft JhengHei"/>
              </a:rPr>
              <a:t>決賽簡報草稿 · 依實機驗收結果更新</a:t>
            </a:r>
          </a:p>
        </p:txBody>
      </p:sp>
    </p:spTree>
    <p:extLst>
      <p:ext uri="{BB962C8B-B14F-4D97-AF65-F5344CB8AC3E}">
        <p14:creationId xmlns:p14="http://schemas.microsoft.com/office/powerpoint/2010/main" val="9041330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7372E-ABE3-478C-A539-79DF30CF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rPr>
              <a:t>校園裡的閒置 GPU 與運算需求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12D95-58DA-4375-9B7D-70732B16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rPr>
              <a:t>題目起點來自團隊對教室設備的觀察；需求規模仍需訪談與量測。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7DCFE-68D7-45F2-82B1-646FDA54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E71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E7155"/>
                </a:solidFill>
                <a:latin typeface="Microsoft JhengHei"/>
                <a:ea typeface="Microsoft JhengHei"/>
                <a:cs typeface="Microsoft JhengHei"/>
              </a:rPr>
              <a:t>需要算力的同學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626F5-01E8-4169-9F8A-2D83565C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485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訪談、課堂錄音需要逐字稿</a:t>
            </a:r>
          </a:p>
          <a:p xmlns:a="http://schemas.openxmlformats.org/drawingml/2006/main">
            <a:pPr>
              <a:defRPr sz="22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活動照片需要清晰的放大版本</a:t>
            </a:r>
          </a:p>
          <a:p xmlns:a="http://schemas.openxmlformats.org/drawingml/2006/main">
            <a:pPr>
              <a:defRPr sz="22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環境安裝成為使用門檻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4323E-7300-4540-BD06-2E8E38B1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765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E71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E7155"/>
                </a:solidFill>
                <a:latin typeface="Microsoft JhengHei"/>
                <a:ea typeface="Microsoft JhengHei"/>
                <a:cs typeface="Microsoft JhengHei"/>
              </a:rPr>
              <a:t>暫時閒置的電腦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AA1FF-CEC3-4F78-BC72-29268B8D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337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教室與獨顯筆電可分享時段</a:t>
            </a:r>
          </a:p>
          <a:p xmlns:a="http://schemas.openxmlformats.org/drawingml/2006/main">
            <a:pPr>
              <a:defRPr sz="22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機主需要保留使用優先權</a:t>
            </a:r>
          </a:p>
          <a:p xmlns:a="http://schemas.openxmlformats.org/drawingml/2006/main">
            <a:pPr>
              <a:defRPr sz="22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學校需要看見用量與貢獻</a:t>
            </a:r>
          </a:p>
        </p:txBody>
      </p:sp>
    </p:spTree>
    <p:extLst>
      <p:ext uri="{BB962C8B-B14F-4D97-AF65-F5344CB8AC3E}">
        <p14:creationId xmlns:p14="http://schemas.microsoft.com/office/powerpoint/2010/main" val="17666041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4D120-5F62-48CB-95E2-02D3E8FF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rPr>
              <a:t>兩種直接可用的 AI 任務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6456D-4C50-4807-A8CF-4885087C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rPr>
              <a:t>提交檔案後，平台處理環境、排隊與結果回傳。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23900" y="2524125"/>
          <a:ext xmlns:a="http://schemas.openxmlformats.org/drawingml/2006/main" cx="10668000" cy="2114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429500"/>
              </a:tblGrid>
              <a:tr h="7048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服務</a:t>
                      </a:r>
                    </a:p>
                  </a:txBody>
                  <a:tcPr marL="91440" marR="91440" marT="45720" marB="45720">
                    <a:solidFill>
                      <a:srgbClr val="17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使用者取得的成果</a:t>
                      </a:r>
                    </a:p>
                  </a:txBody>
                  <a:tcPr marL="91440" marR="91440" marT="45720" marB="45720">
                    <a:solidFill>
                      <a:srgbClr val="173D35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語音轉文字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逐字稿 TXT 與字幕 SRT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圖片 AI 放大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倍圖片與拖曳前後比較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42DBF-414C-4A22-B9D0-10D09A83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rPr>
              <a:t>Whisper small / int8_float16       Real-ESRGAN x2plus / 分塊 128</a:t>
            </a:r>
          </a:p>
        </p:txBody>
      </p:sp>
    </p:spTree>
    <p:extLst>
      <p:ext uri="{BB962C8B-B14F-4D97-AF65-F5344CB8AC3E}">
        <p14:creationId xmlns:p14="http://schemas.microsoft.com/office/powerpoint/2010/main" val="19835390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8DD1F-96F5-4CAD-9A19-6804790B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rPr>
              <a:t>現場操作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E41A5-304C-41EE-9C6F-079A9A6D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rPr>
              <a:t>切換到平台，讓評審看見真實狀態與可下載成果。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40606-F678-4EC6-B9B3-09976735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281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28160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E72E8-A3C0-4064-AEE4-B6F9CBC0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3336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rPr>
              <a:t>提交短音訊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D2413-5243-49EF-B0A9-F302B52C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8125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預覽逐字稿，下載字幕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6B518-BD4B-4B05-A299-6D16C6FB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281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28160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4E896-697B-4486-9EF4-2E8AAEB4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289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rPr>
              <a:t>提交圖片批次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D1520-7634-4CCB-8068-63FBB654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7660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至少兩個帳號，讓三台 GPU 同時接單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C2BEA-ECB3-4C1B-990B-A897674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281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2816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94896-31B7-4C33-BCCC-E6201FB6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243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rPr>
              <a:t>機主關閉分享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D4577-0EAF-4D5C-9F3E-B63198C0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7195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確認容器停止與 GPU 記憶體釋放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4CFE9-E279-48FE-8594-27622DC7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96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281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28160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19C23-F817-4DF7-8F59-132E26A4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196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rPr>
              <a:t>查看接力結果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C3FDF-3025-4C02-89AF-F33CBCDB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6730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未完成檔案重新派工，已完成檔案保留</a:t>
            </a:r>
          </a:p>
        </p:txBody>
      </p:sp>
    </p:spTree>
    <p:extLst>
      <p:ext uri="{BB962C8B-B14F-4D97-AF65-F5344CB8AC3E}">
        <p14:creationId xmlns:p14="http://schemas.microsoft.com/office/powerpoint/2010/main" val="16985658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B86CD-E9FE-49EA-AAA5-DF257CA0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rPr>
              <a:t>收回設備後的工作恢復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6B71B-4187-40E4-9ABD-C95E7D79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rPr>
              <a:t>平台重新執行尚未完成的檔案，每次嘗試都有獨立識別。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23900" y="2238375"/>
          <a:ext xmlns:a="http://schemas.openxmlformats.org/drawingml/2006/main" cx="10668000" cy="2819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239000"/>
              </a:tblGrid>
              <a:tr h="7048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規則</a:t>
                      </a:r>
                    </a:p>
                  </a:txBody>
                  <a:tcPr marL="91440" marR="91440" marT="45720" marB="45720">
                    <a:solidFill>
                      <a:srgbClr val="17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系統行為</a:t>
                      </a:r>
                    </a:p>
                  </a:txBody>
                  <a:tcPr marL="91440" marR="91440" marT="45720" marB="45720">
                    <a:solidFill>
                      <a:srgbClr val="173D35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 5 秒回報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Agent 續約並回傳硬體狀態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 秒未續約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舊分配失效，未完成工作重新排隊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最多 2 次自動重試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取消後不重試，過期識別不能提交成果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38793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D5EDC-2CC0-4491-8032-9D1F92B2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rPr>
              <a:t>驗證進度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A1FB9-26C5-4530-9FE4-164E09EA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rPr>
              <a:t>結果與限制一起呈現，保留可追溯的測試紀錄。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5CD29-8CC6-421F-9598-7A2CBC48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952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00" b="1">
                <a:solidFill>
                  <a:srgbClr val="2180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00" b="1">
                <a:solidFill>
                  <a:srgbClr val="21805B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AC53A-BBCE-4045-ABD9-E98A2661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rPr>
              <a:t>項自動測試通過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01CB8-BB26-41A3-9F89-EC45AB41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5429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RTX 3050 Laptop / 4 GB</a:t>
            </a:r>
          </a:p>
          <a:p xmlns:a="http://schemas.openxmlformats.org/drawingml/2006/main">
            <a:pPr>
              <a:defRPr sz="217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16 秒音訊：全流程 11.19 秒</a:t>
            </a:r>
          </a:p>
          <a:p xmlns:a="http://schemas.openxmlformats.org/drawingml/2006/main">
            <a:pPr>
              <a:defRPr sz="217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圖片 2 倍放大：全流程 11.12 秒</a:t>
            </a:r>
          </a:p>
          <a:p xmlns:a="http://schemas.openxmlformats.org/drawingml/2006/main">
            <a:pPr>
              <a:defRPr sz="217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OFF 後釋放 GPU：4.93 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D1923-9BC2-4C82-B34E-5CDDD2D9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77C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77C71"/>
                </a:solidFill>
                <a:latin typeface="Microsoft JhengHei"/>
                <a:ea typeface="Microsoft JhengHei"/>
                <a:cs typeface="Microsoft JhengHei"/>
              </a:rPr>
              <a:t>單台各一次量測。三台實機與現場穩定性仍待驗收。</a:t>
            </a:r>
          </a:p>
        </p:txBody>
      </p:sp>
    </p:spTree>
    <p:extLst>
      <p:ext uri="{BB962C8B-B14F-4D97-AF65-F5344CB8AC3E}">
        <p14:creationId xmlns:p14="http://schemas.microsoft.com/office/powerpoint/2010/main" val="15626516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B89B7-0A19-4AEE-BE5A-8A5D0F02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rPr>
              <a:t>單機與三機效能比較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854E2-F49D-4565-9C9F-A497FA97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rPr>
              <a:t>相同輸入、模型與設定，計時包含上傳、排隊、處理與下載。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23900" y="2238375"/>
          <a:ext xmlns:a="http://schemas.openxmlformats.org/drawingml/2006/main" cx="10668000" cy="2819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2952750"/>
                <a:gridCol w="2952750"/>
              </a:tblGrid>
              <a:tr h="7048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驗收指標</a:t>
                      </a:r>
                    </a:p>
                  </a:txBody>
                  <a:tcPr marL="91440" marR="91440" marT="45720" marB="45720">
                    <a:solidFill>
                      <a:srgbClr val="17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單台 GPU</a:t>
                      </a:r>
                    </a:p>
                  </a:txBody>
                  <a:tcPr marL="91440" marR="91440" marT="45720" marB="45720">
                    <a:solidFill>
                      <a:srgbClr val="17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三台 GPU</a:t>
                      </a:r>
                    </a:p>
                  </a:txBody>
                  <a:tcPr marL="91440" marR="91440" marT="45720" marB="45720">
                    <a:solidFill>
                      <a:srgbClr val="173D35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批次完整耗時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待實測填入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待實測填入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完成率 / 重試數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待實測填入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待實測填入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OFF 釋放時間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4.93 秒（1 次）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4B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待實測填入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917BC-32F4-4FE6-8C38-78ECBD40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245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rPr>
              <a:t>實測工具：scripts/benchmark.py；保留 JSON、CSV 與結果檔</a:t>
            </a:r>
          </a:p>
        </p:txBody>
      </p:sp>
    </p:spTree>
    <p:extLst>
      <p:ext uri="{BB962C8B-B14F-4D97-AF65-F5344CB8AC3E}">
        <p14:creationId xmlns:p14="http://schemas.microsoft.com/office/powerpoint/2010/main" val="488066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9E3EE-D147-411F-9897-42CC727F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D35"/>
                </a:solidFill>
                <a:latin typeface="Microsoft JhengHei"/>
                <a:ea typeface="Microsoft JhengHei"/>
                <a:cs typeface="Microsoft JhengHei"/>
              </a:rPr>
              <a:t>校園試辦與下一步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52E9C-94AD-426A-A7B9-87C15ED0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17670"/>
                </a:solidFill>
                <a:latin typeface="Microsoft JhengHei"/>
                <a:ea typeface="Microsoft JhengHei"/>
                <a:cs typeface="Microsoft JhengHei"/>
              </a:rPr>
              <a:t>先讓加入、共享、使用、收回、恢復與管理全部可靠運作。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99D26-E68C-45DB-8722-A67F9DA1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180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1805B"/>
                </a:solidFill>
                <a:latin typeface="Microsoft JhengHei"/>
                <a:ea typeface="Microsoft JhengHei"/>
                <a:cs typeface="Microsoft JhengHei"/>
              </a:rPr>
              <a:t>試辦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8581D-F071-472F-BE80-EF2831E6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三台受管理 GPU</a:t>
            </a:r>
          </a:p>
          <a:p xmlns:a="http://schemas.openxmlformats.org/drawingml/2006/main">
            <a:pPr>
              <a:defRPr sz="232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至少五位同學試用</a:t>
            </a:r>
          </a:p>
          <a:p xmlns:a="http://schemas.openxmlformats.org/drawingml/2006/main">
            <a:pPr>
              <a:defRPr sz="232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三次完整現場排練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98E33-9A20-4769-9347-89A910DA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180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1805B"/>
                </a:solidFill>
                <a:latin typeface="Microsoft JhengHei"/>
                <a:ea typeface="Microsoft JhengHei"/>
                <a:cs typeface="Microsoft JhengHei"/>
              </a:rPr>
              <a:t>後續擴充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5079E-1649-4AF6-BA6B-CFD801F4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48050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課表共享時段</a:t>
            </a:r>
          </a:p>
          <a:p xmlns:a="http://schemas.openxmlformats.org/drawingml/2006/main">
            <a:pPr>
              <a:defRPr sz="232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校內帳號整合</a:t>
            </a:r>
          </a:p>
          <a:p xmlns:a="http://schemas.openxmlformats.org/drawingml/2006/main">
            <a:pPr>
              <a:defRPr sz="232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72F39"/>
                </a:solidFill>
                <a:latin typeface="Microsoft JhengHei"/>
                <a:ea typeface="Microsoft JhengHei"/>
                <a:cs typeface="Microsoft JhengHei"/>
              </a:rPr>
              <a:t>更多固定 AI 任務範本</a:t>
            </a:r>
          </a:p>
        </p:txBody>
      </p:sp>
    </p:spTree>
    <p:extLst>
      <p:ext uri="{BB962C8B-B14F-4D97-AF65-F5344CB8AC3E}">
        <p14:creationId xmlns:p14="http://schemas.microsoft.com/office/powerpoint/2010/main" val="6573045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2026-09-16T15:12:50.5050000Z</dcterms:created>
  <dcterms:modified xsi:type="dcterms:W3CDTF">2026-09-16T15:12:50.5050000Z</dcterms:modified>
</coreProperties>
</file>